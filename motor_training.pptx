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964"/>
          </a:solidFill>
          <a:ln>
            <a:solidFill>
              <a:srgbClr val="1F3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144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</a:rPr>
              <a:t>电机系统培训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4747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BDD7EE"/>
                </a:solidFill>
              </a:rPr>
              <a:t>电驱系统部门内训 · 1小时精简版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291840"/>
            <a:ext cx="9144000" cy="45720"/>
          </a:xfrm>
          <a:prstGeom prst="rect">
            <a:avLst/>
          </a:prstGeom>
          <a:solidFill>
            <a:srgbClr val="2E74B5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444444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F"/>
          </a:solidFill>
          <a:ln>
            <a:solidFill>
              <a:srgbClr val="F2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3964"/>
          </a:solidFill>
          <a:ln>
            <a:solidFill>
              <a:srgbClr val="1F3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 tIns="76200"/>
          <a:lstStyle/>
          <a:p>
            <a:pPr algn="l"/>
            <a:r>
              <a:rPr sz="3200" b="1">
                <a:solidFill>
                  <a:srgbClr val="FFFFFF"/>
                </a:solidFill>
              </a:rPr>
              <a:t>今天学完能做什么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2400">
                <a:solidFill>
                  <a:srgbClr val="444444"/>
                </a:solidFill>
              </a:rPr>
              <a:t>· 看懂一份电机规格书</a:t>
            </a:r>
          </a:p>
          <a:p>
            <a:pPr algn="l">
              <a:spcBef>
                <a:spcPts val="400"/>
              </a:spcBef>
            </a:pPr>
            <a:r>
              <a:rPr sz="2400">
                <a:solidFill>
                  <a:srgbClr val="444444"/>
                </a:solidFill>
              </a:rPr>
              <a:t>· 在评审会上识别方案风险</a:t>
            </a:r>
          </a:p>
          <a:p>
            <a:pPr algn="l">
              <a:spcBef>
                <a:spcPts val="400"/>
              </a:spcBef>
            </a:pPr>
            <a:r>
              <a:rPr sz="2400">
                <a:solidFill>
                  <a:srgbClr val="444444"/>
                </a:solidFill>
              </a:rPr>
              <a:t>· 和供应商 / 控制团队对话时不被牵着走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444444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F"/>
          </a:solidFill>
          <a:ln>
            <a:solidFill>
              <a:srgbClr val="F2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3964"/>
          </a:solidFill>
          <a:ln>
            <a:solidFill>
              <a:srgbClr val="1F3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 tIns="76200"/>
          <a:lstStyle/>
          <a:p>
            <a:pPr algn="l"/>
            <a:r>
              <a:rPr sz="3200" b="1">
                <a:solidFill>
                  <a:srgbClr val="FFFFFF"/>
                </a:solidFill>
              </a:rPr>
              <a:t>不懂电机，会在这三个地方出问题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899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2000">
                <a:solidFill>
                  <a:srgbClr val="444444"/>
                </a:solidFill>
              </a:rPr>
              <a:t>· 需求端堆峰值功率 → 热失控，没人拦住</a:t>
            </a:r>
          </a:p>
          <a:p>
            <a:pPr algn="l">
              <a:spcBef>
                <a:spcPts val="400"/>
              </a:spcBef>
            </a:pPr>
            <a:r>
              <a:rPr sz="2000">
                <a:solidFill>
                  <a:srgbClr val="444444"/>
                </a:solidFill>
              </a:rPr>
              <a:t>· 供应商换槽极方案 → NVH 量产暴露</a:t>
            </a:r>
          </a:p>
          <a:p>
            <a:pPr algn="l">
              <a:spcBef>
                <a:spcPts val="400"/>
              </a:spcBef>
            </a:pPr>
            <a:r>
              <a:rPr sz="2000">
                <a:solidFill>
                  <a:srgbClr val="444444"/>
                </a:solidFill>
              </a:rPr>
              <a:t>· 降本压磁钢用量 → 续航投诉，责任链断裂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5303520"/>
            <a:ext cx="11430000" cy="548640"/>
          </a:xfrm>
          <a:prstGeom prst="rect">
            <a:avLst/>
          </a:prstGeom>
          <a:solidFill>
            <a:srgbClr val="FFE699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C00000"/>
                </a:solidFill>
              </a:rPr>
              <a:t>每个场景都有一个能提前发现问题的人，今天让你成为那个人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444444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F"/>
          </a:solidFill>
          <a:ln>
            <a:solidFill>
              <a:srgbClr val="F2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3964"/>
          </a:solidFill>
          <a:ln>
            <a:solidFill>
              <a:srgbClr val="1F3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 tIns="76200"/>
          <a:lstStyle/>
          <a:p>
            <a:pPr algn="l"/>
            <a:r>
              <a:rPr sz="3200" b="1">
                <a:solidFill>
                  <a:srgbClr val="FFFFFF"/>
                </a:solidFill>
              </a:rPr>
              <a:t>转矩从哪来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89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2400">
                <a:solidFill>
                  <a:srgbClr val="444444"/>
                </a:solidFill>
              </a:rPr>
              <a:t>· 磁场 × 电流 × 有效长度 = 力</a:t>
            </a:r>
          </a:p>
          <a:p>
            <a:pPr algn="l">
              <a:spcBef>
                <a:spcPts val="400"/>
              </a:spcBef>
            </a:pPr>
            <a:r>
              <a:rPr sz="2400">
                <a:solidFill>
                  <a:srgbClr val="444444"/>
                </a:solidFill>
              </a:rPr>
              <a:t>· 转矩靠磁，转速靠电压，效率靠设计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444444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F"/>
          </a:solidFill>
          <a:ln>
            <a:solidFill>
              <a:srgbClr val="F2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3964"/>
          </a:solidFill>
          <a:ln>
            <a:solidFill>
              <a:srgbClr val="1F3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 tIns="76200"/>
          <a:lstStyle/>
          <a:p>
            <a:pPr algn="l"/>
            <a:r>
              <a:rPr sz="3200" b="1">
                <a:solidFill>
                  <a:srgbClr val="FFFFFF"/>
                </a:solidFill>
              </a:rPr>
              <a:t>电机性能的三条边界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280160"/>
          <a:ext cx="11064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5029200"/>
                <a:gridCol w="438912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约束线</a:t>
                      </a:r>
                    </a:p>
                  </a:txBody>
                  <a:tcPr>
                    <a:solidFill>
                      <a:srgbClr val="2E74B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机理</a:t>
                      </a:r>
                    </a:p>
                  </a:txBody>
                  <a:tcPr>
                    <a:solidFill>
                      <a:srgbClr val="2E74B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工程含义</a:t>
                      </a:r>
                    </a:p>
                  </a:txBody>
                  <a:tcPr>
                    <a:solidFill>
                      <a:srgbClr val="2E74B5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444444"/>
                          </a:solidFill>
                        </a:rPr>
                        <a:t>① 电流线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444444"/>
                          </a:solidFill>
                        </a:rPr>
                        <a:t>电流↑→铜损↑→温升↑→绝缘寿命↓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444444"/>
                          </a:solidFill>
                        </a:rPr>
                        <a:t>峰值转矩能持续多久，本质是热约束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444444"/>
                          </a:solidFill>
                        </a:rPr>
                        <a:t>② 电压线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444444"/>
                          </a:solidFill>
                        </a:rPr>
                        <a:t>转速↑→反EMF↑→需要弱磁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444444"/>
                          </a:solidFill>
                        </a:rPr>
                        <a:t>最高车速和基速之间有个硬墙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444444"/>
                          </a:solidFill>
                        </a:rPr>
                        <a:t>③ 铁损线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444444"/>
                          </a:solidFill>
                        </a:rPr>
                        <a:t>转速↑→频率↑→铁损↑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444444"/>
                          </a:solidFill>
                        </a:rPr>
                        <a:t>效率图右侧高速区塌陷的原因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365760" y="5303520"/>
            <a:ext cx="11430000" cy="548640"/>
          </a:xfrm>
          <a:prstGeom prst="rect">
            <a:avLst/>
          </a:prstGeom>
          <a:solidFill>
            <a:srgbClr val="FFE699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C00000"/>
                </a:solidFill>
              </a:rPr>
              <a:t>看到任何电机数据，先问“这个数字在约束哪条线”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444444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F"/>
          </a:solidFill>
          <a:ln>
            <a:solidFill>
              <a:srgbClr val="F2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3964"/>
          </a:solidFill>
          <a:ln>
            <a:solidFill>
              <a:srgbClr val="1F3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 tIns="76200"/>
          <a:lstStyle/>
          <a:p>
            <a:pPr algn="l"/>
            <a:r>
              <a:rPr sz="3200" b="1">
                <a:solidFill>
                  <a:srgbClr val="FFFFFF"/>
                </a:solidFill>
              </a:rPr>
              <a:t>拓扑选择逻辑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97280" y="1280160"/>
          <a:ext cx="100584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502920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轮毂电机</a:t>
                      </a:r>
                    </a:p>
                  </a:txBody>
                  <a:tcPr>
                    <a:solidFill>
                      <a:srgbClr val="2E74B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中置电机</a:t>
                      </a:r>
                    </a:p>
                  </a:txBody>
                  <a:tcPr>
                    <a:solidFill>
                      <a:srgbClr val="2E74B5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444444"/>
                          </a:solidFill>
                        </a:rPr>
                        <a:t>传动链短 / 成本低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444444"/>
                          </a:solidFill>
                        </a:rPr>
                        <a:t>骑行质感好 / 散热好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444444"/>
                          </a:solidFill>
                        </a:rPr>
                        <a:t>非簧载质量大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444444"/>
                          </a:solidFill>
                        </a:rPr>
                        <a:t>传动损耗存在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444444"/>
                          </a:solidFill>
                        </a:rPr>
                        <a:t>散热差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444444"/>
                          </a:solidFill>
                        </a:rPr>
                        <a:t>成本更高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365760" y="5303520"/>
            <a:ext cx="11430000" cy="548640"/>
          </a:xfrm>
          <a:prstGeom prst="rect">
            <a:avLst/>
          </a:prstGeom>
          <a:solidFill>
            <a:srgbClr val="FFE699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C00000"/>
                </a:solidFill>
              </a:rPr>
              <a:t>整车定位决定拓扑，不是电机性能决定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444444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F"/>
          </a:solidFill>
          <a:ln>
            <a:solidFill>
              <a:srgbClr val="F2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3964"/>
          </a:solidFill>
          <a:ln>
            <a:solidFill>
              <a:srgbClr val="1F3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 tIns="76200"/>
          <a:lstStyle/>
          <a:p>
            <a:pPr algn="l"/>
            <a:r>
              <a:rPr sz="3200" b="1">
                <a:solidFill>
                  <a:srgbClr val="FFFFFF"/>
                </a:solidFill>
              </a:rPr>
              <a:t>峰值是“能做到”，额定是“能持续”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899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2000">
                <a:solidFill>
                  <a:srgbClr val="444444"/>
                </a:solidFill>
              </a:rPr>
              <a:t>· 区别在哪？热。</a:t>
            </a:r>
          </a:p>
          <a:p>
            <a:pPr algn="l">
              <a:spcBef>
                <a:spcPts val="400"/>
              </a:spcBef>
            </a:pPr>
            <a:r>
              <a:rPr sz="2000">
                <a:solidFill>
                  <a:srgbClr val="444444"/>
                </a:solidFill>
              </a:rPr>
              <a:t>· 峰值转矩持续30秒 vs 3分钟，是完全不同的热设计</a:t>
            </a:r>
          </a:p>
          <a:p>
            <a:pPr algn="l">
              <a:spcBef>
                <a:spcPts val="400"/>
              </a:spcBef>
            </a:pPr>
            <a:r>
              <a:rPr sz="2000">
                <a:solidFill>
                  <a:srgbClr val="444444"/>
                </a:solidFill>
              </a:rPr>
              <a:t>· 常见坑：规格书只写峰值，不写持续时间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754880"/>
            <a:ext cx="10789920" cy="731520"/>
          </a:xfrm>
          <a:prstGeom prst="rect">
            <a:avLst/>
          </a:prstGeom>
          <a:solidFill>
            <a:srgbClr val="FFE699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C00000"/>
                </a:solidFill>
              </a:rPr>
              <a:t>评审必问：峰值转矩能持续多久？热模型验证了吗？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444444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F"/>
          </a:solidFill>
          <a:ln>
            <a:solidFill>
              <a:srgbClr val="F2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3964"/>
          </a:solidFill>
          <a:ln>
            <a:solidFill>
              <a:srgbClr val="1F3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 tIns="76200"/>
          <a:lstStyle/>
          <a:p>
            <a:pPr algn="l"/>
            <a:r>
              <a:rPr sz="3200" b="1">
                <a:solidFill>
                  <a:srgbClr val="FFFFFF"/>
                </a:solidFill>
              </a:rPr>
              <a:t>效率图是电机的真实能力地图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899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2000">
                <a:solidFill>
                  <a:srgbClr val="444444"/>
                </a:solidFill>
              </a:rPr>
              <a:t>· 高效区在哪？WLTC工况点落在哪？</a:t>
            </a:r>
          </a:p>
          <a:p>
            <a:pPr algn="l">
              <a:spcBef>
                <a:spcPts val="400"/>
              </a:spcBef>
            </a:pPr>
            <a:r>
              <a:rPr sz="2000">
                <a:solidFill>
                  <a:srgbClr val="444444"/>
                </a:solidFill>
              </a:rPr>
              <a:t>· 峰值效率95% ≠ 实际续航好</a:t>
            </a:r>
          </a:p>
          <a:p>
            <a:pPr algn="l">
              <a:spcBef>
                <a:spcPts val="400"/>
              </a:spcBef>
            </a:pPr>
            <a:r>
              <a:rPr sz="2000">
                <a:solidFill>
                  <a:srgbClr val="444444"/>
                </a:solidFill>
              </a:rPr>
              <a:t>· 工况点在低效区，实际效率可能只有82%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754880"/>
            <a:ext cx="10789920" cy="731520"/>
          </a:xfrm>
          <a:prstGeom prst="rect">
            <a:avLst/>
          </a:prstGeom>
          <a:solidFill>
            <a:srgbClr val="FFE699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C00000"/>
                </a:solidFill>
              </a:rPr>
              <a:t>评审必问：工况点在效率图上标出来了吗？实测还是仿真？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444444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F"/>
          </a:solidFill>
          <a:ln>
            <a:solidFill>
              <a:srgbClr val="F2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3964"/>
          </a:solidFill>
          <a:ln>
            <a:solidFill>
              <a:srgbClr val="1F3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 tIns="76200"/>
          <a:lstStyle/>
          <a:p>
            <a:pPr algn="l"/>
            <a:r>
              <a:rPr sz="3200" b="1">
                <a:solidFill>
                  <a:srgbClr val="FFFFFF"/>
                </a:solidFill>
              </a:rPr>
              <a:t>磁钢是转矩密度和可靠性的核心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899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2000">
                <a:solidFill>
                  <a:srgbClr val="444444"/>
                </a:solidFill>
              </a:rPr>
              <a:t>· 牌号N35~N52：数字越大Br越高 → 转矩密度越高</a:t>
            </a:r>
          </a:p>
          <a:p>
            <a:pPr algn="l">
              <a:spcBef>
                <a:spcPts val="400"/>
              </a:spcBef>
            </a:pPr>
            <a:r>
              <a:rPr sz="2000">
                <a:solidFill>
                  <a:srgbClr val="444444"/>
                </a:solidFill>
              </a:rPr>
              <a:t>· 温度系数：Br每升温10℃下降约1.2%，120℃下已掉约12%</a:t>
            </a:r>
          </a:p>
          <a:p>
            <a:pPr algn="l">
              <a:spcBef>
                <a:spcPts val="400"/>
              </a:spcBef>
            </a:pPr>
            <a:r>
              <a:rPr sz="2000">
                <a:solidFill>
                  <a:srgbClr val="444444"/>
                </a:solidFill>
              </a:rPr>
              <a:t>· 退磁：工作点跑出安全边界 → 永久性能下降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754880"/>
            <a:ext cx="10789920" cy="731520"/>
          </a:xfrm>
          <a:prstGeom prst="rect">
            <a:avLst/>
          </a:prstGeom>
          <a:solidFill>
            <a:srgbClr val="FFE699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C00000"/>
                </a:solidFill>
              </a:rPr>
              <a:t>评审必问：最高工作温度下退磁裕度是多少？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444444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F"/>
          </a:solidFill>
          <a:ln>
            <a:solidFill>
              <a:srgbClr val="F2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3964"/>
          </a:solidFill>
          <a:ln>
            <a:solidFill>
              <a:srgbClr val="1F3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 tIns="76200"/>
          <a:lstStyle/>
          <a:p>
            <a:pPr algn="l"/>
            <a:r>
              <a:rPr sz="3200" b="1">
                <a:solidFill>
                  <a:srgbClr val="FFFFFF"/>
                </a:solidFill>
              </a:rPr>
              <a:t>绝缘等级是温升上限，不是工作温度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280160"/>
          <a:ext cx="10515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594360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等级</a:t>
                      </a:r>
                    </a:p>
                  </a:txBody>
                  <a:tcPr>
                    <a:solidFill>
                      <a:srgbClr val="2E74B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温度上限</a:t>
                      </a:r>
                    </a:p>
                  </a:txBody>
                  <a:tcPr>
                    <a:solidFill>
                      <a:srgbClr val="2E74B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适用场景</a:t>
                      </a:r>
                    </a:p>
                  </a:txBody>
                  <a:tcPr>
                    <a:solidFill>
                      <a:srgbClr val="2E74B5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444444"/>
                          </a:solidFill>
                        </a:rPr>
                        <a:t>F级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444444"/>
                          </a:solidFill>
                        </a:rPr>
                        <a:t>155℃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444444"/>
                          </a:solidFill>
                        </a:rPr>
                        <a:t>两轮车多数场景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444444"/>
                          </a:solidFill>
                        </a:rPr>
                        <a:t>H级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444444"/>
                          </a:solidFill>
                        </a:rPr>
                        <a:t>180℃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444444"/>
                          </a:solidFill>
                        </a:rPr>
                        <a:t>高频重载工况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444444"/>
                          </a:solidFill>
                        </a:rPr>
                        <a:t>200级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444444"/>
                          </a:solidFill>
                        </a:rPr>
                        <a:t>200℃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444444"/>
                          </a:solidFill>
                        </a:rPr>
                        <a:t>特殊需求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365760" y="5303520"/>
            <a:ext cx="11430000" cy="548640"/>
          </a:xfrm>
          <a:prstGeom prst="rect">
            <a:avLst/>
          </a:prstGeom>
          <a:solidFill>
            <a:srgbClr val="FFE699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C00000"/>
                </a:solidFill>
              </a:rPr>
              <a:t>不是越高越好，是成本和工况的匹配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444444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F"/>
          </a:solidFill>
          <a:ln>
            <a:solidFill>
              <a:srgbClr val="F2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3964"/>
          </a:solidFill>
          <a:ln>
            <a:solidFill>
              <a:srgbClr val="1F3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 tIns="76200"/>
          <a:lstStyle/>
          <a:p>
            <a:pPr algn="l"/>
            <a:r>
              <a:rPr sz="3200" b="1">
                <a:solidFill>
                  <a:srgbClr val="FFFFFF"/>
                </a:solidFill>
              </a:rPr>
              <a:t>Ke 决定基速，是电机与控制器的接口参数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89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2200">
                <a:solidFill>
                  <a:srgbClr val="444444"/>
                </a:solidFill>
              </a:rPr>
              <a:t>· Ke大 → 基速低 → 弱磁区宽 → 高速控制复杂</a:t>
            </a:r>
          </a:p>
          <a:p>
            <a:pPr algn="l">
              <a:spcBef>
                <a:spcPts val="400"/>
              </a:spcBef>
            </a:pPr>
            <a:r>
              <a:rPr sz="2200">
                <a:solidFill>
                  <a:srgbClr val="444444"/>
                </a:solidFill>
              </a:rPr>
              <a:t>· Ke小 → 基速高 → 峰值转矩密度受限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5303520"/>
            <a:ext cx="11430000" cy="548640"/>
          </a:xfrm>
          <a:prstGeom prst="rect">
            <a:avLst/>
          </a:prstGeom>
          <a:solidFill>
            <a:srgbClr val="FFE699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C00000"/>
                </a:solidFill>
              </a:rPr>
              <a:t>Ke的选择是电机与控制双方共同决定，不是单边定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444444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F"/>
          </a:solidFill>
          <a:ln>
            <a:solidFill>
              <a:srgbClr val="F2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3964"/>
          </a:solidFill>
          <a:ln>
            <a:solidFill>
              <a:srgbClr val="1F3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 tIns="76200"/>
          <a:lstStyle/>
          <a:p>
            <a:pPr algn="l"/>
            <a:r>
              <a:rPr sz="3200" b="1">
                <a:solidFill>
                  <a:srgbClr val="FFFFFF"/>
                </a:solidFill>
              </a:rPr>
              <a:t>4条记忆线索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777240"/>
          </a:xfrm>
          <a:prstGeom prst="rect">
            <a:avLst/>
          </a:prstGeom>
          <a:solidFill>
            <a:srgbClr val="DEEBF7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/>
          <a:lstStyle/>
          <a:p>
            <a:pPr algn="ctr"/>
            <a:r>
              <a:rPr b="1" sz="2000">
                <a:solidFill>
                  <a:srgbClr val="1F3964"/>
                </a:solidFill>
              </a:rPr>
              <a:t>转矩密度</a:t>
            </a:r>
            <a:r>
              <a:rPr sz="2000">
                <a:solidFill>
                  <a:srgbClr val="444444"/>
                </a:solidFill>
              </a:rPr>
              <a:t>  → 看磁钢和尺寸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286000"/>
            <a:ext cx="11247120" cy="777240"/>
          </a:xfrm>
          <a:prstGeom prst="rect">
            <a:avLst/>
          </a:prstGeom>
          <a:solidFill>
            <a:srgbClr val="DEEBF7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/>
          <a:lstStyle/>
          <a:p>
            <a:pPr algn="ctr"/>
            <a:r>
              <a:rPr b="1" sz="2000">
                <a:solidFill>
                  <a:srgbClr val="1F3964"/>
                </a:solidFill>
              </a:rPr>
              <a:t>持续能力</a:t>
            </a:r>
            <a:r>
              <a:rPr sz="2000">
                <a:solidFill>
                  <a:srgbClr val="444444"/>
                </a:solidFill>
              </a:rPr>
              <a:t>  → 看热设计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200400"/>
            <a:ext cx="11247120" cy="777240"/>
          </a:xfrm>
          <a:prstGeom prst="rect">
            <a:avLst/>
          </a:prstGeom>
          <a:solidFill>
            <a:srgbClr val="DEEBF7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/>
          <a:lstStyle/>
          <a:p>
            <a:pPr algn="ctr"/>
            <a:r>
              <a:rPr b="1" sz="2000">
                <a:solidFill>
                  <a:srgbClr val="1F3964"/>
                </a:solidFill>
              </a:rPr>
              <a:t>高速表现</a:t>
            </a:r>
            <a:r>
              <a:rPr sz="2000">
                <a:solidFill>
                  <a:srgbClr val="444444"/>
                </a:solidFill>
              </a:rPr>
              <a:t>  → 看Ke和弱磁策略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114800"/>
            <a:ext cx="11247120" cy="777240"/>
          </a:xfrm>
          <a:prstGeom prst="rect">
            <a:avLst/>
          </a:prstGeom>
          <a:solidFill>
            <a:srgbClr val="DEEBF7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/>
          <a:lstStyle/>
          <a:p>
            <a:pPr algn="ctr"/>
            <a:r>
              <a:rPr b="1" sz="2000">
                <a:solidFill>
                  <a:srgbClr val="1F3964"/>
                </a:solidFill>
              </a:rPr>
              <a:t>实际续航</a:t>
            </a:r>
            <a:r>
              <a:rPr sz="2000">
                <a:solidFill>
                  <a:srgbClr val="444444"/>
                </a:solidFill>
              </a:rPr>
              <a:t>  → 看效率图 × 工况点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9224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444444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F"/>
          </a:solidFill>
          <a:ln>
            <a:solidFill>
              <a:srgbClr val="F2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3964"/>
          </a:solidFill>
          <a:ln>
            <a:solidFill>
              <a:srgbClr val="1F3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 tIns="76200"/>
          <a:lstStyle/>
          <a:p>
            <a:pPr algn="l"/>
            <a:r>
              <a:rPr sz="3200" b="1">
                <a:solidFill>
                  <a:srgbClr val="FFFFFF"/>
                </a:solidFill>
              </a:rPr>
              <a:t>续航 / 爬坡 / 最高车速的约束来自哪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2200">
                <a:solidFill>
                  <a:srgbClr val="444444"/>
                </a:solidFill>
              </a:rPr>
              <a:t>· 续航：效率图工况点 × 电池容量，两头都要对</a:t>
            </a:r>
          </a:p>
          <a:p>
            <a:pPr algn="l">
              <a:spcBef>
                <a:spcPts val="400"/>
              </a:spcBef>
            </a:pPr>
            <a:r>
              <a:rPr sz="2200">
                <a:solidFill>
                  <a:srgbClr val="444444"/>
                </a:solidFill>
              </a:rPr>
              <a:t>· 爬坡/加速：峰值转矩 × 持续时间（热约束）</a:t>
            </a:r>
          </a:p>
          <a:p>
            <a:pPr algn="l">
              <a:spcBef>
                <a:spcPts val="400"/>
              </a:spcBef>
            </a:pPr>
            <a:r>
              <a:rPr sz="2200">
                <a:solidFill>
                  <a:srgbClr val="444444"/>
                </a:solidFill>
              </a:rPr>
              <a:t>· 最高车速：弱磁深度 × 电压裕量，不是无限往上推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444444"/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F"/>
          </a:solidFill>
          <a:ln>
            <a:solidFill>
              <a:srgbClr val="F2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3964"/>
          </a:solidFill>
          <a:ln>
            <a:solidFill>
              <a:srgbClr val="1F3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 tIns="76200"/>
          <a:lstStyle/>
          <a:p>
            <a:pPr algn="l"/>
            <a:r>
              <a:rPr sz="3200" b="1">
                <a:solidFill>
                  <a:srgbClr val="FFFFFF"/>
                </a:solidFill>
              </a:rPr>
              <a:t>电机和控制器是一个系统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899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2000">
                <a:solidFill>
                  <a:srgbClr val="444444"/>
                </a:solidFill>
              </a:rPr>
              <a:t>· 电压平台（48V/60V/72V/96V）直接约束电机设计空间</a:t>
            </a:r>
          </a:p>
          <a:p>
            <a:pPr algn="l">
              <a:spcBef>
                <a:spcPts val="400"/>
              </a:spcBef>
            </a:pPr>
            <a:r>
              <a:rPr sz="2000">
                <a:solidFill>
                  <a:srgbClr val="444444"/>
                </a:solidFill>
              </a:rPr>
              <a:t>· 控制策略（MTPA/弱磁）需要电机预留对应参数</a:t>
            </a:r>
          </a:p>
          <a:p>
            <a:pPr algn="l">
              <a:spcBef>
                <a:spcPts val="400"/>
              </a:spcBef>
            </a:pPr>
            <a:r>
              <a:rPr sz="2000">
                <a:solidFill>
                  <a:srgbClr val="444444"/>
                </a:solidFill>
              </a:rPr>
              <a:t>· Ld/Lq不匹配 → 控制器效率损失，是选型问题不是控制问题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5303520"/>
            <a:ext cx="11430000" cy="548640"/>
          </a:xfrm>
          <a:prstGeom prst="rect">
            <a:avLst/>
          </a:prstGeom>
          <a:solidFill>
            <a:srgbClr val="FFE699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C00000"/>
                </a:solidFill>
              </a:rPr>
              <a:t>分开选型是高风险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444444"/>
                </a:solidFill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F"/>
          </a:solidFill>
          <a:ln>
            <a:solidFill>
              <a:srgbClr val="F2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3964"/>
          </a:solidFill>
          <a:ln>
            <a:solidFill>
              <a:srgbClr val="1F3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 tIns="76200"/>
          <a:lstStyle/>
          <a:p>
            <a:pPr algn="l"/>
            <a:r>
              <a:rPr sz="3200" b="1">
                <a:solidFill>
                  <a:srgbClr val="FFFFFF"/>
                </a:solidFill>
              </a:rPr>
              <a:t>评审会上，这5个问题必须问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11247120" cy="658368"/>
          </a:xfrm>
          <a:prstGeom prst="rect">
            <a:avLst/>
          </a:prstGeom>
          <a:solidFill>
            <a:srgbClr val="DEEBF7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1800" b="1">
                <a:solidFill>
                  <a:srgbClr val="1F3964"/>
                </a:solidFill>
              </a:rPr>
              <a:t>① 峰值转矩能持续多久？热模型验证了吗？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75688"/>
            <a:ext cx="11247120" cy="658368"/>
          </a:xfrm>
          <a:prstGeom prst="rect">
            <a:avLst/>
          </a:prstGeom>
          <a:solidFill>
            <a:srgbClr val="DEEBF7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1800" b="1">
                <a:solidFill>
                  <a:srgbClr val="1F3964"/>
                </a:solidFill>
              </a:rPr>
              <a:t>② 效率图工况点在哪？实测还是仿真？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825496"/>
            <a:ext cx="11247120" cy="658368"/>
          </a:xfrm>
          <a:prstGeom prst="rect">
            <a:avLst/>
          </a:prstGeom>
          <a:solidFill>
            <a:srgbClr val="DEEBF7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1800" b="1">
                <a:solidFill>
                  <a:srgbClr val="1F3964"/>
                </a:solidFill>
              </a:rPr>
              <a:t>③ 最高工作温度下退磁裕度是多少？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575304"/>
            <a:ext cx="11247120" cy="658368"/>
          </a:xfrm>
          <a:prstGeom prst="rect">
            <a:avLst/>
          </a:prstGeom>
          <a:solidFill>
            <a:srgbClr val="DEEBF7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1800" b="1">
                <a:solidFill>
                  <a:srgbClr val="1F3964"/>
                </a:solidFill>
              </a:rPr>
              <a:t>④ 槽极方案改过吗？NVH测过哪些转速段？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325112"/>
            <a:ext cx="11247120" cy="658368"/>
          </a:xfrm>
          <a:prstGeom prst="rect">
            <a:avLst/>
          </a:prstGeom>
          <a:solidFill>
            <a:srgbClr val="DEEBF7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1800" b="1">
                <a:solidFill>
                  <a:srgbClr val="1F3964"/>
                </a:solidFill>
              </a:rPr>
              <a:t>⑤ 绝缘等级，振动/盐雾认证状态？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9224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444444"/>
                </a:solidFill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F"/>
          </a:solidFill>
          <a:ln>
            <a:solidFill>
              <a:srgbClr val="F2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3964"/>
          </a:solidFill>
          <a:ln>
            <a:solidFill>
              <a:srgbClr val="1F3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 tIns="76200"/>
          <a:lstStyle/>
          <a:p>
            <a:pPr algn="l"/>
            <a:r>
              <a:rPr sz="3200" b="1">
                <a:solidFill>
                  <a:srgbClr val="FFFFFF"/>
                </a:solidFill>
              </a:rPr>
              <a:t>带走这3条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1064240" cy="1280160"/>
          </a:xfrm>
          <a:prstGeom prst="rect">
            <a:avLst/>
          </a:prstGeom>
          <a:solidFill>
            <a:srgbClr val="2E74B5"/>
          </a:solidFill>
          <a:ln>
            <a:solidFill>
              <a:srgbClr val="1F3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400" b="1">
                <a:solidFill>
                  <a:srgbClr val="FFFFFF"/>
                </a:solidFill>
              </a:rPr>
              <a:t>① 峰值数字看热，效率数字看工况点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834640"/>
            <a:ext cx="11064240" cy="1280160"/>
          </a:xfrm>
          <a:prstGeom prst="rect">
            <a:avLst/>
          </a:prstGeom>
          <a:solidFill>
            <a:srgbClr val="2E74B5"/>
          </a:solidFill>
          <a:ln>
            <a:solidFill>
              <a:srgbClr val="1F3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400" b="1">
                <a:solidFill>
                  <a:srgbClr val="FFFFFF"/>
                </a:solidFill>
              </a:rPr>
              <a:t>② 磁钢和绝缘是可靠性的两条命线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297680"/>
            <a:ext cx="11064240" cy="1280160"/>
          </a:xfrm>
          <a:prstGeom prst="rect">
            <a:avLst/>
          </a:prstGeom>
          <a:solidFill>
            <a:srgbClr val="2E74B5"/>
          </a:solidFill>
          <a:ln>
            <a:solidFill>
              <a:srgbClr val="1F3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400" b="1">
                <a:solidFill>
                  <a:srgbClr val="FFFFFF"/>
                </a:solidFill>
              </a:rPr>
              <a:t>③ 电机和控制器是一个系统，分开看会出问题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9224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444444"/>
                </a:solidFill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F"/>
          </a:solidFill>
          <a:ln>
            <a:solidFill>
              <a:srgbClr val="F2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3964"/>
          </a:solidFill>
          <a:ln>
            <a:solidFill>
              <a:srgbClr val="1F3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 tIns="76200"/>
          <a:lstStyle/>
          <a:p>
            <a:pPr algn="l"/>
            <a:r>
              <a:rPr sz="3200" b="1">
                <a:solidFill>
                  <a:srgbClr val="FFFFFF"/>
                </a:solidFill>
              </a:rPr>
              <a:t>今天发给大家的材料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2200">
                <a:solidFill>
                  <a:srgbClr val="444444"/>
                </a:solidFill>
              </a:rPr>
              <a:t>· 供应商评审5问 Checklist（一页纸）</a:t>
            </a:r>
          </a:p>
          <a:p>
            <a:pPr algn="l">
              <a:spcBef>
                <a:spcPts val="400"/>
              </a:spcBef>
            </a:pPr>
            <a:r>
              <a:rPr sz="2200">
                <a:solidFill>
                  <a:srgbClr val="444444"/>
                </a:solidFill>
              </a:rPr>
              <a:t>· 效率图示例（标注工况点）</a:t>
            </a:r>
          </a:p>
          <a:p>
            <a:pPr algn="l">
              <a:spcBef>
                <a:spcPts val="400"/>
              </a:spcBef>
            </a:pPr>
            <a:r>
              <a:rPr sz="2200">
                <a:solidFill>
                  <a:srgbClr val="444444"/>
                </a:solidFill>
              </a:rPr>
              <a:t>· 常见参数速查卡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444444"/>
                </a:solidFill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964"/>
          </a:solidFill>
          <a:ln>
            <a:solidFill>
              <a:srgbClr val="1F3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</a:rPr>
              <a:t>电驱系统部门内训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918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BDD7EE"/>
                </a:solidFill>
              </a:rPr>
              <a:t>问题 / 讨论 / 下一步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200400"/>
            <a:ext cx="9144000" cy="45720"/>
          </a:xfrm>
          <a:prstGeom prst="rect">
            <a:avLst/>
          </a:prstGeom>
          <a:solidFill>
            <a:srgbClr val="2E74B5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444444"/>
                </a:solidFill>
              </a:rPr>
              <a:t>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